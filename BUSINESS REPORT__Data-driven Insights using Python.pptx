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notesMasterIdLst>
    <p:notesMasterId r:id="rId19"/>
  </p:notesMasterIdLst>
  <p:sldIdLst>
    <p:sldId id="256" r:id="rId2"/>
    <p:sldId id="257" r:id="rId3"/>
    <p:sldId id="258" r:id="rId4"/>
    <p:sldId id="268" r:id="rId5"/>
    <p:sldId id="269" r:id="rId6"/>
    <p:sldId id="272" r:id="rId7"/>
    <p:sldId id="270" r:id="rId8"/>
    <p:sldId id="273" r:id="rId9"/>
    <p:sldId id="274" r:id="rId10"/>
    <p:sldId id="275" r:id="rId11"/>
    <p:sldId id="277" r:id="rId12"/>
    <p:sldId id="283" r:id="rId13"/>
    <p:sldId id="284" r:id="rId14"/>
    <p:sldId id="285" r:id="rId15"/>
    <p:sldId id="287" r:id="rId16"/>
    <p:sldId id="288" r:id="rId17"/>
    <p:sldId id="28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6ACF9C5-34EE-41F9-A4DC-BDFF5CD41BED}">
          <p14:sldIdLst>
            <p14:sldId id="256"/>
            <p14:sldId id="257"/>
            <p14:sldId id="258"/>
            <p14:sldId id="268"/>
            <p14:sldId id="269"/>
          </p14:sldIdLst>
        </p14:section>
        <p14:section name="Untitled Section" id="{72FC04A8-ECF8-41B3-A7A9-8DE4951366A5}">
          <p14:sldIdLst>
            <p14:sldId id="272"/>
            <p14:sldId id="270"/>
            <p14:sldId id="273"/>
            <p14:sldId id="274"/>
            <p14:sldId id="275"/>
            <p14:sldId id="277"/>
            <p14:sldId id="283"/>
            <p14:sldId id="284"/>
            <p14:sldId id="285"/>
            <p14:sldId id="287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A4E4"/>
    <a:srgbClr val="EDE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>
        <p:guide pos="384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89827-5DA5-4183-A4D7-BF39BAA2CBA0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5E0AED-810E-4AAA-B8EC-2BAA5BAB6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572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CE224DC-925B-409A-8E26-B4292064635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8AE8ECC-A888-4022-9379-2A67D23EF88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452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224DC-925B-409A-8E26-B4292064635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E8ECC-A888-4022-9379-2A67D23EF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357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224DC-925B-409A-8E26-B4292064635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E8ECC-A888-4022-9379-2A67D23EF880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021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224DC-925B-409A-8E26-B4292064635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E8ECC-A888-4022-9379-2A67D23EF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09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224DC-925B-409A-8E26-B4292064635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E8ECC-A888-4022-9379-2A67D23EF880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82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224DC-925B-409A-8E26-B4292064635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E8ECC-A888-4022-9379-2A67D23EF88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64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224DC-925B-409A-8E26-B4292064635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E8ECC-A888-4022-9379-2A67D23EF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781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224DC-925B-409A-8E26-B4292064635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E8ECC-A888-4022-9379-2A67D23EF880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500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224DC-925B-409A-8E26-B4292064635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E8ECC-A888-4022-9379-2A67D23EF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351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224DC-925B-409A-8E26-B4292064635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E8ECC-A888-4022-9379-2A67D23EF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012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224DC-925B-409A-8E26-B4292064635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E8ECC-A888-4022-9379-2A67D23EF88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711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224DC-925B-409A-8E26-B4292064635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E8ECC-A888-4022-9379-2A67D23EF88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3903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224DC-925B-409A-8E26-B4292064635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E8ECC-A888-4022-9379-2A67D23EF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016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224DC-925B-409A-8E26-B4292064635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E8ECC-A888-4022-9379-2A67D23EF88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130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224DC-925B-409A-8E26-B4292064635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E8ECC-A888-4022-9379-2A67D23EF88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7875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224DC-925B-409A-8E26-B4292064635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E8ECC-A888-4022-9379-2A67D23EF88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681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224DC-925B-409A-8E26-B4292064635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E8ECC-A888-4022-9379-2A67D23EF88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14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CE224DC-925B-409A-8E26-B4292064635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E8ECC-A888-4022-9379-2A67D23EF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485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32922-87C5-CEE6-76C8-68F6BA0CB0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i="1" u="sng" dirty="0"/>
              <a:t>Business Report of Automobile Purchase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F79ABC-3C80-CE9E-2BFE-62CBE3389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1867" y="4978399"/>
            <a:ext cx="1676400" cy="347133"/>
          </a:xfrm>
        </p:spPr>
        <p:txBody>
          <a:bodyPr>
            <a:normAutofit/>
          </a:bodyPr>
          <a:lstStyle/>
          <a:p>
            <a:r>
              <a:rPr lang="en-IN" sz="1500" dirty="0"/>
              <a:t>- ANIRUDHA K R</a:t>
            </a:r>
          </a:p>
        </p:txBody>
      </p:sp>
    </p:spTree>
    <p:extLst>
      <p:ext uri="{BB962C8B-B14F-4D97-AF65-F5344CB8AC3E}">
        <p14:creationId xmlns:p14="http://schemas.microsoft.com/office/powerpoint/2010/main" val="217337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3B25B-1055-BA5A-8417-A7B1CE4E6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b="1" u="sng" dirty="0"/>
              <a:t>Table of Contents</a:t>
            </a:r>
            <a:r>
              <a:rPr lang="en-US" sz="2800" b="1" dirty="0"/>
              <a:t>: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CEC67-4D67-2F2F-AD9B-D96304FCF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 Introduction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Data Overview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Univariate Analysis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Bivariate Analysis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Key Business Questions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IN" dirty="0"/>
              <a:t>Actionable Insights</a:t>
            </a: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Business Recommendations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Conclusion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087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875A-7B58-3B17-457E-F41E06B5F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286935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1. </a:t>
            </a:r>
            <a:r>
              <a:rPr lang="en-US" b="1" u="sng" dirty="0"/>
              <a:t>Introduction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66908-5B62-C009-9E5B-243DBDAC0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automobile industry is one of the most competitive sectors in the global market, where understanding customer behavior plays a crucial role in improving sales performance and marketing strategies. Companies rely on data-driven insights to understand the factors that influence customers' automobile purchasing decisions.</a:t>
            </a:r>
          </a:p>
          <a:p>
            <a:r>
              <a:rPr lang="en-US" dirty="0"/>
              <a:t>This business report analyzes automobile purchase data to identify patterns and relationships between customer demographics, financial characteristics, and vehicle purchasing behavior. The dataset contains information about customers such as </a:t>
            </a:r>
            <a:r>
              <a:rPr lang="en-US" b="1" dirty="0"/>
              <a:t>age, gender, profession, income level, partner employment status, loan status, and automobile price</a:t>
            </a:r>
            <a:r>
              <a:rPr lang="en-US" dirty="0"/>
              <a:t>. By analyzing these variables, we aim to understand how different factors influence the choice of vehicle and the amount spent on purchasing automobiles.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178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B5A2C-D9FC-06F5-8186-A497B2179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14BD2012-2FC9-8726-1149-6C0D03C87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2. </a:t>
            </a:r>
            <a:r>
              <a:rPr lang="en-US" b="1" u="sng" dirty="0">
                <a:solidFill>
                  <a:schemeClr val="tx1"/>
                </a:solidFill>
              </a:rPr>
              <a:t>Data Overview </a:t>
            </a:r>
            <a:endParaRPr lang="en-IN" u="sng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C31353B-401A-0030-752E-94EE5D996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This dataset contains total of 14 variables and 1581 customers/records.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Dataset Description: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tx1"/>
              </a:solidFill>
            </a:endParaRPr>
          </a:p>
          <a:p>
            <a:endParaRPr lang="en-IN" sz="16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736A85D-6827-4983-C8A0-8E5672CA31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41945"/>
              </p:ext>
            </p:extLst>
          </p:nvPr>
        </p:nvGraphicFramePr>
        <p:xfrm>
          <a:off x="745067" y="3242733"/>
          <a:ext cx="10701866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0933">
                  <a:extLst>
                    <a:ext uri="{9D8B030D-6E8A-4147-A177-3AD203B41FA5}">
                      <a16:colId xmlns:a16="http://schemas.microsoft.com/office/drawing/2014/main" val="1172253170"/>
                    </a:ext>
                  </a:extLst>
                </a:gridCol>
                <a:gridCol w="5350933">
                  <a:extLst>
                    <a:ext uri="{9D8B030D-6E8A-4147-A177-3AD203B41FA5}">
                      <a16:colId xmlns:a16="http://schemas.microsoft.com/office/drawing/2014/main" val="1534219169"/>
                    </a:ext>
                  </a:extLst>
                </a:gridCol>
              </a:tblGrid>
              <a:tr h="4215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</a:rPr>
                        <a:t>1. Gender : Male,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</a:rPr>
                        <a:t>                  Female	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 dirty="0">
                          <a:solidFill>
                            <a:schemeClr val="tx1"/>
                          </a:solidFill>
                        </a:rPr>
                        <a:t>8. Total 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055516"/>
                  </a:ext>
                </a:extLst>
              </a:tr>
              <a:tr h="421519"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2. Age : 20 to 40 (1277), </a:t>
                      </a:r>
                    </a:p>
                    <a:p>
                      <a:pPr algn="l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             40 to 60 (304)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9. House Loan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251001"/>
                  </a:ext>
                </a:extLst>
              </a:tr>
              <a:tr h="2479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en-US" sz="1400" dirty="0"/>
                        <a:t> Education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10. Personal Loan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783271"/>
                  </a:ext>
                </a:extLst>
              </a:tr>
              <a:tr h="247952"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4.. Profession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11. Partner Working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1475419"/>
                  </a:ext>
                </a:extLst>
              </a:tr>
              <a:tr h="42151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 Marital Status : Single (138),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                           Married (1443)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12. Partner 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9265896"/>
                  </a:ext>
                </a:extLst>
              </a:tr>
              <a:tr h="247952"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6. No of Dependents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13. Make (Car type)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7522849"/>
                  </a:ext>
                </a:extLst>
              </a:tr>
              <a:tr h="421519"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7. Salary : $0 to $50,000 (323), </a:t>
                      </a:r>
                    </a:p>
                    <a:p>
                      <a:pPr algn="l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                $50,000 to $1,00,000(1258)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14. Price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524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215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038F7-84AD-06D8-A1DD-762D70F7E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3. </a:t>
            </a:r>
            <a:r>
              <a:rPr lang="en-US" b="1" u="sng" dirty="0"/>
              <a:t>Univariate Analysis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99F75-A797-2827-93E9-617296FBF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Univariate analysis examines the distribution of individual variables to understand customer demographics and vehicle purchase characteristics.</a:t>
            </a:r>
          </a:p>
          <a:p>
            <a:pPr marL="0" indent="0" algn="ctr">
              <a:buNone/>
            </a:pPr>
            <a:r>
              <a:rPr lang="en-US" sz="1500" b="1" dirty="0"/>
              <a:t>	1. </a:t>
            </a:r>
            <a:r>
              <a:rPr lang="en-US" sz="1500" b="1" u="sng" dirty="0"/>
              <a:t>Numerical Variables</a:t>
            </a:r>
            <a:r>
              <a:rPr lang="en-US" sz="1500" b="1" dirty="0"/>
              <a:t>:</a:t>
            </a:r>
            <a:endParaRPr lang="en-IN" sz="15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389F4A-A468-79D1-3DCD-6E8C4C0F8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9"/>
          <a:stretch>
            <a:fillRect/>
          </a:stretch>
        </p:blipFill>
        <p:spPr>
          <a:xfrm>
            <a:off x="773169" y="3656018"/>
            <a:ext cx="2420943" cy="208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85518A-3763-AA40-912E-975324DAC5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27" y="3656018"/>
            <a:ext cx="2574728" cy="208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808BB3B-300A-020B-DA92-B380C2A286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6006" y="3656018"/>
            <a:ext cx="2574725" cy="208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05503D8-5D38-6ACA-82AF-DABCE994B9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150" y="3656018"/>
            <a:ext cx="2657038" cy="20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519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2E4C6E-FD70-7CDA-FB67-0BC2A2F1BFC3}"/>
              </a:ext>
            </a:extLst>
          </p:cNvPr>
          <p:cNvSpPr txBox="1"/>
          <p:nvPr/>
        </p:nvSpPr>
        <p:spPr>
          <a:xfrm>
            <a:off x="4622800" y="812800"/>
            <a:ext cx="293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2. </a:t>
            </a:r>
            <a:r>
              <a:rPr lang="en-IN" sz="1500" b="1" u="sng" dirty="0"/>
              <a:t>Categorical</a:t>
            </a:r>
            <a:r>
              <a:rPr lang="en-IN" b="1" u="sng" dirty="0"/>
              <a:t> Variables</a:t>
            </a:r>
            <a:r>
              <a:rPr lang="en-IN" b="1" dirty="0"/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F2EA1E-159E-BA6E-C9B8-008AB0248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34" y="3527254"/>
            <a:ext cx="2710681" cy="216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8EB9DF-F146-EBFC-9037-7CFCAF2798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692" y="3527254"/>
            <a:ext cx="2710681" cy="216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40699E-862D-6A10-BA14-AA5762ED41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34" y="1170746"/>
            <a:ext cx="2753408" cy="216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9835B2-76E6-648E-B100-BA736AF034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692" y="1160001"/>
            <a:ext cx="2710681" cy="216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46AAA6-7BEA-F97C-22E8-FF5B15545E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869" y="1159716"/>
            <a:ext cx="2753408" cy="216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32C380-3C44-0345-770D-AD31600812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277" y="1159716"/>
            <a:ext cx="2753408" cy="21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F4B3018-86DE-D7D1-C9C0-2AB6F5F7A0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1115" y="3563498"/>
            <a:ext cx="2710681" cy="21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0A38162-21E9-B86C-4FB5-C0AF1B6731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228" y="3543053"/>
            <a:ext cx="2753408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856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5B894-F41B-D460-E712-EC698B05B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/>
              <a:t>4. </a:t>
            </a:r>
            <a:r>
              <a:rPr lang="en-US" b="1" u="sng" dirty="0"/>
              <a:t>Bivariate Analysis 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B93E4-73AA-1717-0376-B42605481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89200"/>
            <a:ext cx="9601196" cy="3386668"/>
          </a:xfrm>
        </p:spPr>
        <p:txBody>
          <a:bodyPr>
            <a:normAutofit/>
          </a:bodyPr>
          <a:lstStyle/>
          <a:p>
            <a:r>
              <a:rPr lang="en-US" sz="1800" dirty="0"/>
              <a:t>Bivariate analysis explores relationships between variables such as gender and automobile price or partner employment and purchasing behavior.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829543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CF545B-BFF7-0079-5DC0-8FA2C9292904}"/>
              </a:ext>
            </a:extLst>
          </p:cNvPr>
          <p:cNvSpPr txBox="1"/>
          <p:nvPr/>
        </p:nvSpPr>
        <p:spPr>
          <a:xfrm>
            <a:off x="660400" y="770467"/>
            <a:ext cx="4783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</a:t>
            </a:r>
            <a:r>
              <a:rPr lang="en-IN" b="1" u="sng" dirty="0"/>
              <a:t>Relationship Between Numerical Variables</a:t>
            </a:r>
            <a:r>
              <a:rPr lang="en-IN" b="1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B41E5B-1CC9-7F50-9C6D-92115D434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099" y="657000"/>
            <a:ext cx="5539501" cy="5544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B8CFAF-7596-ADEF-6473-09D0806C299A}"/>
              </a:ext>
            </a:extLst>
          </p:cNvPr>
          <p:cNvSpPr txBox="1"/>
          <p:nvPr/>
        </p:nvSpPr>
        <p:spPr>
          <a:xfrm>
            <a:off x="660400" y="1176867"/>
            <a:ext cx="533169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salary increases when Salary and Partner salary increase.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Price tends to increase with Total salary, indicating wealthier households buy more expensive cars.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 shows a mild relationship with salary, as income generally rises with experience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178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1AD4B8-46FC-0284-89D0-11F407C98A49}"/>
              </a:ext>
            </a:extLst>
          </p:cNvPr>
          <p:cNvSpPr txBox="1"/>
          <p:nvPr/>
        </p:nvSpPr>
        <p:spPr>
          <a:xfrm>
            <a:off x="685800" y="821266"/>
            <a:ext cx="5122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2. </a:t>
            </a:r>
            <a:r>
              <a:rPr lang="en-IN" b="1" u="sng" dirty="0"/>
              <a:t>Correlation Between Numerical Variables</a:t>
            </a:r>
            <a:r>
              <a:rPr lang="en-IN" b="1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E29CC4-F4CC-47AB-C171-84C55BBD84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024" y="729000"/>
            <a:ext cx="6229176" cy="540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7A787F-AECD-AD5A-EE1E-D1A83ED7A6A3}"/>
              </a:ext>
            </a:extLst>
          </p:cNvPr>
          <p:cNvSpPr txBox="1"/>
          <p:nvPr/>
        </p:nvSpPr>
        <p:spPr>
          <a:xfrm>
            <a:off x="685801" y="1282864"/>
            <a:ext cx="45912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Salary vs Total salary</a:t>
            </a:r>
            <a:r>
              <a:rPr lang="en-US" dirty="0"/>
              <a:t>: Strong positive correlation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Partner salary vs Total salary</a:t>
            </a:r>
            <a:r>
              <a:rPr lang="en-US" dirty="0"/>
              <a:t>: Strong positive correlation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Total salary vs Price</a:t>
            </a:r>
            <a:r>
              <a:rPr lang="en-US" dirty="0"/>
              <a:t>: Moderate positive correlation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Age vs Salary</a:t>
            </a:r>
            <a:r>
              <a:rPr lang="en-US" dirty="0"/>
              <a:t>: Weak to moderate positive relationship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8354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FD947D-2C2B-640C-46C1-1509716980B8}"/>
              </a:ext>
            </a:extLst>
          </p:cNvPr>
          <p:cNvSpPr txBox="1"/>
          <p:nvPr/>
        </p:nvSpPr>
        <p:spPr>
          <a:xfrm>
            <a:off x="677334" y="728133"/>
            <a:ext cx="1082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3. </a:t>
            </a:r>
            <a:r>
              <a:rPr lang="en-US" b="1" u="sng" dirty="0"/>
              <a:t>Relationship Between Categorical and Numerical Variables</a:t>
            </a:r>
            <a:r>
              <a:rPr lang="en-US" b="1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DB5A3A-792D-BD8E-AC36-EA90E75A2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531" y="3760007"/>
            <a:ext cx="3122347" cy="241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9C1B60-4C87-E6CD-AC22-6E3D136C8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705" y="1240007"/>
            <a:ext cx="3306462" cy="252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9357CA-9A4F-398E-9AEC-D233016EAF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33" y="1240007"/>
            <a:ext cx="3262154" cy="252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862D32-B996-31A6-D29F-F39BCE6972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18813" y="3760007"/>
            <a:ext cx="3122347" cy="24119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D3DEEE-A28C-0A15-0664-CC2D4979A8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226" y="1240007"/>
            <a:ext cx="3312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329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B3075-096A-F7B4-F31D-DAE71C951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/>
              <a:t>5. </a:t>
            </a:r>
            <a:r>
              <a:rPr lang="en-US" b="1" u="sng" dirty="0"/>
              <a:t>Key Business Questions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907CA-3CAC-6A8A-DA24-572F7F5C1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Do men tend to prefer SUVs more compared to women?</a:t>
            </a:r>
          </a:p>
          <a:p>
            <a:pPr lvl="1"/>
            <a:r>
              <a:rPr lang="en-US" b="1" i="1" dirty="0"/>
              <a:t>Yes, men tend to prefer SUVs more compared to women</a:t>
            </a:r>
            <a:endParaRPr lang="en-US" dirty="0"/>
          </a:p>
          <a:p>
            <a:pPr lvl="1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36DF2F-FEC9-B7C1-5CBD-8D4B7B0A4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411" y="3482801"/>
            <a:ext cx="3343175" cy="26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92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124536-131F-EF77-5562-F4FC25481011}"/>
              </a:ext>
            </a:extLst>
          </p:cNvPr>
          <p:cNvSpPr txBox="1"/>
          <p:nvPr/>
        </p:nvSpPr>
        <p:spPr>
          <a:xfrm>
            <a:off x="679704" y="829534"/>
            <a:ext cx="10853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What is the likelihood of a salaried person buying a Sedan?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1" dirty="0"/>
              <a:t>The probability is typically around 50–60%, meaning salaried individuals are slightly more likely to purchase Sedans than SUVs.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8025CA-D466-3BF9-5609-56E53D2DF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312" y="1799668"/>
            <a:ext cx="3162462" cy="252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0491F4-E145-FE54-FF3B-D6E5C77BE64B}"/>
              </a:ext>
            </a:extLst>
          </p:cNvPr>
          <p:cNvSpPr txBox="1"/>
          <p:nvPr/>
        </p:nvSpPr>
        <p:spPr>
          <a:xfrm>
            <a:off x="679704" y="4519350"/>
            <a:ext cx="108539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What evidence or data supports Sheldon Cooper's claim that a salaried male is an easier target for a SUV sale over a Sedan sale?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1" dirty="0"/>
              <a:t>The data supports Sheldon Cooper’s claim:</a:t>
            </a:r>
            <a:endParaRPr lang="en-US" dirty="0"/>
          </a:p>
          <a:p>
            <a:r>
              <a:rPr lang="en-US" b="1" i="1" dirty="0"/>
              <a:t>			Salaried males show a higher probability of buying SUVs compared to Sedans.</a:t>
            </a:r>
            <a:endParaRPr lang="en-US" dirty="0"/>
          </a:p>
          <a:p>
            <a:r>
              <a:rPr lang="en-US" b="1" i="1" dirty="0"/>
              <a:t>			This makes them an easier target group for SUV sales.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CCC2E9-B97A-5F25-E479-201F60C7D5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228" y="1799668"/>
            <a:ext cx="3162462" cy="2520000"/>
          </a:xfrm>
          <a:prstGeom prst="rect">
            <a:avLst/>
          </a:prstGeom>
        </p:spPr>
      </p:pic>
      <p:sp>
        <p:nvSpPr>
          <p:cNvPr id="10" name="Arrow: Curved Left 9">
            <a:extLst>
              <a:ext uri="{FF2B5EF4-FFF2-40B4-BE49-F238E27FC236}">
                <a16:creationId xmlns:a16="http://schemas.microsoft.com/office/drawing/2014/main" id="{0E3B2560-336B-58FD-319F-87C3804A8907}"/>
              </a:ext>
            </a:extLst>
          </p:cNvPr>
          <p:cNvSpPr/>
          <p:nvPr/>
        </p:nvSpPr>
        <p:spPr>
          <a:xfrm rot="1646953">
            <a:off x="4958270" y="1573066"/>
            <a:ext cx="621792" cy="1477328"/>
          </a:xfrm>
          <a:prstGeom prst="curvedLef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Arrow: Curved Left 12">
            <a:extLst>
              <a:ext uri="{FF2B5EF4-FFF2-40B4-BE49-F238E27FC236}">
                <a16:creationId xmlns:a16="http://schemas.microsoft.com/office/drawing/2014/main" id="{BB99CBC4-3BA3-4BC6-034C-3486CCE53E35}"/>
              </a:ext>
            </a:extLst>
          </p:cNvPr>
          <p:cNvSpPr/>
          <p:nvPr/>
        </p:nvSpPr>
        <p:spPr>
          <a:xfrm rot="12582980">
            <a:off x="6631719" y="2968240"/>
            <a:ext cx="621792" cy="1477328"/>
          </a:xfrm>
          <a:prstGeom prst="curvedLeftArrow">
            <a:avLst/>
          </a:prstGeom>
          <a:solidFill>
            <a:srgbClr val="C9A4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0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0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331912-30F9-3904-8EEC-124EB64CAF70}"/>
              </a:ext>
            </a:extLst>
          </p:cNvPr>
          <p:cNvSpPr txBox="1"/>
          <p:nvPr/>
        </p:nvSpPr>
        <p:spPr>
          <a:xfrm>
            <a:off x="641604" y="740663"/>
            <a:ext cx="109087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How does the amount spent on purchasing automobiles vary by gender?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1" dirty="0"/>
              <a:t>The analysis shows that automobile spending varies by gender, with male customers typically spending more on average than female customers.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7F6B16-F069-07CB-7103-B5EB646EF450}"/>
              </a:ext>
            </a:extLst>
          </p:cNvPr>
          <p:cNvSpPr txBox="1"/>
          <p:nvPr/>
        </p:nvSpPr>
        <p:spPr>
          <a:xfrm>
            <a:off x="641604" y="4968071"/>
            <a:ext cx="109087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How much money was spent on purchasing automobiles by individuals who took a personal loan?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1" dirty="0"/>
              <a:t>The total money spent on automobiles by individuals with personal loans is calculated as:</a:t>
            </a:r>
            <a:endParaRPr lang="en-US" b="1" dirty="0"/>
          </a:p>
          <a:p>
            <a:r>
              <a:rPr lang="en-US" b="1" dirty="0"/>
              <a:t>			Total Spending = ∑Price of cars purchased where Personal Loan = Yes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1" dirty="0"/>
              <a:t>This shows how financing options influence automobile purchasing power.</a:t>
            </a: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914A1F-43B9-1186-06FD-754CE0A4D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552" y="1957176"/>
            <a:ext cx="3541766" cy="2736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801837-B120-7346-46B3-8DAFF96BD4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682" y="1957176"/>
            <a:ext cx="3541766" cy="2736000"/>
          </a:xfrm>
          <a:prstGeom prst="rect">
            <a:avLst/>
          </a:prstGeom>
        </p:spPr>
      </p:pic>
      <p:sp>
        <p:nvSpPr>
          <p:cNvPr id="9" name="Arrow: Curved Left 8">
            <a:extLst>
              <a:ext uri="{FF2B5EF4-FFF2-40B4-BE49-F238E27FC236}">
                <a16:creationId xmlns:a16="http://schemas.microsoft.com/office/drawing/2014/main" id="{EABBEF22-2832-F10D-2A61-F59C7C7A6D98}"/>
              </a:ext>
            </a:extLst>
          </p:cNvPr>
          <p:cNvSpPr/>
          <p:nvPr/>
        </p:nvSpPr>
        <p:spPr>
          <a:xfrm rot="1646953">
            <a:off x="5232813" y="1724145"/>
            <a:ext cx="621792" cy="1477328"/>
          </a:xfrm>
          <a:prstGeom prst="curvedLef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Arrow: Curved Left 10">
            <a:extLst>
              <a:ext uri="{FF2B5EF4-FFF2-40B4-BE49-F238E27FC236}">
                <a16:creationId xmlns:a16="http://schemas.microsoft.com/office/drawing/2014/main" id="{3C6FF991-D728-27E3-2B1F-96FAEE8DA635}"/>
              </a:ext>
            </a:extLst>
          </p:cNvPr>
          <p:cNvSpPr/>
          <p:nvPr/>
        </p:nvSpPr>
        <p:spPr>
          <a:xfrm rot="12582980">
            <a:off x="6317615" y="3376183"/>
            <a:ext cx="621792" cy="1477328"/>
          </a:xfrm>
          <a:prstGeom prst="curvedLef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91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9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B6CDE6-E63E-9691-4446-A6D965201EA1}"/>
              </a:ext>
            </a:extLst>
          </p:cNvPr>
          <p:cNvSpPr txBox="1"/>
          <p:nvPr/>
        </p:nvSpPr>
        <p:spPr>
          <a:xfrm>
            <a:off x="650748" y="886968"/>
            <a:ext cx="108905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6. How does having a working partner influence the purchase of higher-priced cars?</a:t>
            </a:r>
          </a:p>
          <a:p>
            <a:r>
              <a:rPr lang="en-US" b="1" i="1" dirty="0"/>
              <a:t>	Having a working partner positively influences the purchase of higher-priced cars because: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i="1" dirty="0"/>
              <a:t>It increases household income.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i="1" dirty="0"/>
              <a:t>It improves affordability for expensive vehicles like SUVs.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CB818A-DB44-D4EC-C28D-D60A57A34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923" y="2394511"/>
            <a:ext cx="3262154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113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4E7A3-C6AA-2C84-C08A-89DD8C12F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/>
              <a:t> 6. </a:t>
            </a:r>
            <a:r>
              <a:rPr lang="en-IN" b="1" u="sng" dirty="0"/>
              <a:t>Actionable Insights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9D5CE61-A1E7-7D82-E4A6-CBEEDBD25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Household income is one of the strongest predictors of car price.</a:t>
            </a:r>
          </a:p>
          <a:p>
            <a:r>
              <a:rPr lang="en-US" dirty="0"/>
              <a:t>Dual-income households have significantly higher purchasing power.</a:t>
            </a:r>
          </a:p>
          <a:p>
            <a:r>
              <a:rPr lang="en-US" dirty="0"/>
              <a:t>SUV buyers are typically higher-income customers.</a:t>
            </a:r>
          </a:p>
          <a:p>
            <a:r>
              <a:rPr lang="en-US" dirty="0"/>
              <a:t>Loan availability increases automobile sales.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597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3ED80-E407-0558-2BC6-51756E0BB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7. </a:t>
            </a:r>
            <a:r>
              <a:rPr lang="en-US" b="1" u="sng" dirty="0"/>
              <a:t>Business Recommendations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CAE3F-9DBD-94FC-5ED3-43C32CE8F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u="sng" dirty="0"/>
              <a:t>Targeted Marketing</a:t>
            </a:r>
          </a:p>
          <a:p>
            <a:pPr lvl="2"/>
            <a:r>
              <a:rPr lang="en-US" dirty="0"/>
              <a:t>Focus SUV marketing campaigns on salaried male customers.</a:t>
            </a:r>
          </a:p>
          <a:p>
            <a:pPr lvl="2"/>
            <a:r>
              <a:rPr lang="en-US" dirty="0"/>
              <a:t>Promote Sedans to salaried professionals looking for affordability.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u="sng" dirty="0"/>
              <a:t>Focus on Dual-Income Households</a:t>
            </a:r>
          </a:p>
          <a:p>
            <a:pPr lvl="2"/>
            <a:r>
              <a:rPr lang="en-US" dirty="0"/>
              <a:t>Market premium and luxury models to households with working partners.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u="sng" dirty="0"/>
              <a:t>Improve Financing Options</a:t>
            </a:r>
          </a:p>
          <a:p>
            <a:pPr lvl="2"/>
            <a:r>
              <a:rPr lang="en-US" dirty="0"/>
              <a:t>Provide easy EMI schemes and loan partnerships with banks.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u="sng" dirty="0"/>
              <a:t>Focus on Young Professionals</a:t>
            </a:r>
            <a:endParaRPr lang="en-US" u="sng" dirty="0"/>
          </a:p>
          <a:p>
            <a:pPr lvl="2"/>
            <a:r>
              <a:rPr lang="en-US" dirty="0"/>
              <a:t>Target 25–40 age group using digital marketing channels.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2461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2F6A2-E173-138C-C5E0-D10CFD46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/>
              <a:t>8. </a:t>
            </a:r>
            <a:r>
              <a:rPr lang="en-US" b="1" u="sng" dirty="0"/>
              <a:t>Conclusion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B90DE-FE6D-C2F0-0E19-71F53FAF5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analysis demonstrates that income level, profession, and household financial structure strongly influence automobile purchasing behavior.</a:t>
            </a:r>
          </a:p>
          <a:p>
            <a:r>
              <a:rPr lang="en-US" dirty="0"/>
              <a:t>By leveraging these insights, automobile companies can: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/>
              <a:t>*</a:t>
            </a:r>
            <a:r>
              <a:rPr lang="en-US" dirty="0"/>
              <a:t> Improve </a:t>
            </a:r>
            <a:r>
              <a:rPr lang="en-US" u="sng" dirty="0"/>
              <a:t>customer segmentation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/>
              <a:t>*</a:t>
            </a:r>
            <a:r>
              <a:rPr lang="en-US" dirty="0"/>
              <a:t> Optimize </a:t>
            </a:r>
            <a:r>
              <a:rPr lang="en-US" u="sng" dirty="0"/>
              <a:t>marketing campaigns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/>
              <a:t>*</a:t>
            </a:r>
            <a:r>
              <a:rPr lang="en-US" dirty="0"/>
              <a:t> Increase </a:t>
            </a:r>
            <a:r>
              <a:rPr lang="en-US" u="sng" dirty="0"/>
              <a:t>sales of premium vehicles</a:t>
            </a:r>
          </a:p>
          <a:p>
            <a:r>
              <a:rPr lang="en-US" dirty="0"/>
              <a:t>Data-driven decision-making allows businesses to better understand customer needs and maximize revenue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3074456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1349</TotalTime>
  <Words>869</Words>
  <Application>Microsoft Office PowerPoint</Application>
  <PresentationFormat>Widescreen</PresentationFormat>
  <Paragraphs>98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Garamond</vt:lpstr>
      <vt:lpstr>Organic</vt:lpstr>
      <vt:lpstr>Business Report of Automobile Purchase</vt:lpstr>
      <vt:lpstr>Table of Contents:</vt:lpstr>
      <vt:lpstr>1. Introduction</vt:lpstr>
      <vt:lpstr>2. Data Overview </vt:lpstr>
      <vt:lpstr>3. Univariate Analysis</vt:lpstr>
      <vt:lpstr>PowerPoint Presentation</vt:lpstr>
      <vt:lpstr>4. Bivariate Analysis </vt:lpstr>
      <vt:lpstr>PowerPoint Presentation</vt:lpstr>
      <vt:lpstr>PowerPoint Presentation</vt:lpstr>
      <vt:lpstr>PowerPoint Presentation</vt:lpstr>
      <vt:lpstr>5. Key Business Questions</vt:lpstr>
      <vt:lpstr>PowerPoint Presentation</vt:lpstr>
      <vt:lpstr>PowerPoint Presentation</vt:lpstr>
      <vt:lpstr>PowerPoint Presentation</vt:lpstr>
      <vt:lpstr> 6. Actionable Insights</vt:lpstr>
      <vt:lpstr>7. Business Recommendations</vt:lpstr>
      <vt:lpstr>8.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Anirudha K R</dc:creator>
  <cp:lastModifiedBy>Anirudha K R</cp:lastModifiedBy>
  <cp:revision>3</cp:revision>
  <dcterms:created xsi:type="dcterms:W3CDTF">2026-03-13T20:01:37Z</dcterms:created>
  <dcterms:modified xsi:type="dcterms:W3CDTF">2026-04-23T17:49:11Z</dcterms:modified>
</cp:coreProperties>
</file>